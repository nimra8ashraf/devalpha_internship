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4206240"/>
            <a:ext cx="3657600" cy="3657600"/>
          </a:xfrm>
          <a:prstGeom prst="ellipse">
            <a:avLst/>
          </a:prstGeom>
          <a:solidFill>
            <a:srgbClr val="263875"/>
          </a:solidFill>
          <a:ln/>
        </p:spPr>
      </p:sp>
      <p:sp>
        <p:nvSpPr>
          <p:cNvPr id="3" name="Shape 1"/>
          <p:cNvSpPr/>
          <p:nvPr/>
        </p:nvSpPr>
        <p:spPr>
          <a:xfrm>
            <a:off x="10515600" y="4846320"/>
            <a:ext cx="2377440" cy="2377440"/>
          </a:xfrm>
          <a:prstGeom prst="ellipse">
            <a:avLst/>
          </a:prstGeom>
          <a:solidFill>
            <a:srgbClr val="2F4088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234440"/>
            <a:ext cx="777240" cy="77724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5042" y="1436522"/>
            <a:ext cx="373075" cy="37307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737360" y="1234440"/>
            <a:ext cx="777240" cy="777240"/>
          </a:xfrm>
          <a:prstGeom prst="ellipse">
            <a:avLst/>
          </a:prstGeom>
          <a:solidFill>
            <a:srgbClr val="E85D5D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9442" y="1436522"/>
            <a:ext cx="373075" cy="37307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22960" y="24688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777240" y="288036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Internship Projects</a:t>
            </a:r>
            <a:endParaRPr lang="en-US" sz="4800" dirty="0"/>
          </a:p>
        </p:txBody>
      </p:sp>
      <p:sp>
        <p:nvSpPr>
          <p:cNvPr id="10" name="Text 6"/>
          <p:cNvSpPr/>
          <p:nvPr/>
        </p:nvSpPr>
        <p:spPr>
          <a:xfrm>
            <a:off x="822960" y="397764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Price Prediction  •  Heart Disease Classification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822960" y="59436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Nimra Ashraf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Internship Project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71432" y="3200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6675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repository showcases two complete Machine Learning projects built during a Machine Learning Internship, covering the full ML lifecycle: data collection, preprocessing, exploratory data analysis, model building, evaluation, and documentation.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3063240"/>
            <a:ext cx="5074920" cy="2971800"/>
          </a:xfrm>
          <a:prstGeom prst="roundRect">
            <a:avLst>
              <a:gd name="adj" fmla="val 3692"/>
            </a:avLst>
          </a:prstGeom>
          <a:solidFill>
            <a:srgbClr val="F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3383280"/>
            <a:ext cx="640080" cy="64008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6541" y="354970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83080" y="3383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783080" y="363016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Stock Price Prediction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960120" y="4297680"/>
            <a:ext cx="4572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model forecasting future stock closing prices from historical market data.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355080" y="3063240"/>
            <a:ext cx="5074920" cy="2971800"/>
          </a:xfrm>
          <a:prstGeom prst="roundRect">
            <a:avLst>
              <a:gd name="adj" fmla="val 3692"/>
            </a:avLst>
          </a:prstGeom>
          <a:solidFill>
            <a:srgbClr val="F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675120" y="3383280"/>
            <a:ext cx="640080" cy="640080"/>
          </a:xfrm>
          <a:prstGeom prst="ellipse">
            <a:avLst/>
          </a:prstGeom>
          <a:solidFill>
            <a:srgbClr val="E85D5D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1541" y="354970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498080" y="3383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5D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7498080" y="363016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Heart Disease Prediction</a:t>
            </a:r>
            <a:endParaRPr lang="en-US" sz="1900" dirty="0"/>
          </a:p>
        </p:txBody>
      </p:sp>
      <p:sp>
        <p:nvSpPr>
          <p:cNvPr id="16" name="Text 12"/>
          <p:cNvSpPr/>
          <p:nvPr/>
        </p:nvSpPr>
        <p:spPr>
          <a:xfrm>
            <a:off x="6675120" y="4297680"/>
            <a:ext cx="4572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model predicting heart disease likelihood from patient medical attributes.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11548872" y="63550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71432" y="3200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 · STOCK PREDICTION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640080" y="50292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0275" y="693115"/>
            <a:ext cx="351130" cy="35113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54480" y="5486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Stock Price Prediction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155448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Prediction Model (Regression)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40080" y="1828800"/>
            <a:ext cx="10881360" cy="1371600"/>
          </a:xfrm>
          <a:prstGeom prst="roundRect">
            <a:avLst>
              <a:gd name="adj" fmla="val 6667"/>
            </a:avLst>
          </a:prstGeom>
          <a:solidFill>
            <a:srgbClr val="263875"/>
          </a:solidFill>
          <a:ln/>
        </p:spPr>
      </p:sp>
      <p:sp>
        <p:nvSpPr>
          <p:cNvPr id="8" name="Text 5"/>
          <p:cNvSpPr/>
          <p:nvPr/>
        </p:nvSpPr>
        <p:spPr>
          <a:xfrm>
            <a:off x="914400" y="20116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14400" y="233172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 regression model to predict future stock closing prices using historical stock market data.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40080" y="3429000"/>
            <a:ext cx="10881360" cy="2606040"/>
          </a:xfrm>
          <a:prstGeom prst="roundRect">
            <a:avLst>
              <a:gd name="adj" fmla="val 3509"/>
            </a:avLst>
          </a:prstGeom>
          <a:solidFill>
            <a:srgbClr val="263875"/>
          </a:solidFill>
          <a:ln/>
        </p:spPr>
      </p:sp>
      <p:sp>
        <p:nvSpPr>
          <p:cNvPr id="11" name="Text 8"/>
          <p:cNvSpPr/>
          <p:nvPr/>
        </p:nvSpPr>
        <p:spPr>
          <a:xfrm>
            <a:off x="914400" y="3611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DESCRIPTION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914400" y="3977640"/>
            <a:ext cx="10241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uses historical stock market data to train a Machine Learning regression model capable of predicting stock closing prices. The workflow includes data preprocessing, visualization, feature selection, model training, and evaluation using regression metrics.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1548872" y="63550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71432" y="3200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 · STOCK PREDICTION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Features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stock market attributes used to train the regression model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3429000" cy="914400"/>
          </a:xfrm>
          <a:prstGeom prst="roundRect">
            <a:avLst>
              <a:gd name="adj" fmla="val 9000"/>
            </a:avLst>
          </a:prstGeom>
          <a:solidFill>
            <a:srgbClr val="F5F7FC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1248" y="2093976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212848"/>
            <a:ext cx="219456" cy="2194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187452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297680" y="1874520"/>
            <a:ext cx="3429000" cy="914400"/>
          </a:xfrm>
          <a:prstGeom prst="roundRect">
            <a:avLst>
              <a:gd name="adj" fmla="val 9000"/>
            </a:avLst>
          </a:prstGeom>
          <a:solidFill>
            <a:srgbClr val="F5F7FC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498848" y="2093976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2212848"/>
            <a:ext cx="219456" cy="2194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166360" y="187452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Price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7955280" y="1874520"/>
            <a:ext cx="3429000" cy="914400"/>
          </a:xfrm>
          <a:prstGeom prst="roundRect">
            <a:avLst>
              <a:gd name="adj" fmla="val 9000"/>
            </a:avLst>
          </a:prstGeom>
          <a:solidFill>
            <a:srgbClr val="F5F7FC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8156448" y="2093976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320" y="2212848"/>
            <a:ext cx="219456" cy="21945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823960" y="187452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Price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640080" y="3063240"/>
            <a:ext cx="3429000" cy="914400"/>
          </a:xfrm>
          <a:prstGeom prst="roundRect">
            <a:avLst>
              <a:gd name="adj" fmla="val 9000"/>
            </a:avLst>
          </a:prstGeom>
          <a:solidFill>
            <a:srgbClr val="F5F7FC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841248" y="3282696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3401568"/>
            <a:ext cx="219456" cy="21945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508760" y="306324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Price</a:t>
            </a:r>
            <a:endParaRPr lang="en-US" sz="1400" dirty="0"/>
          </a:p>
        </p:txBody>
      </p:sp>
      <p:sp>
        <p:nvSpPr>
          <p:cNvPr id="21" name="Shape 15"/>
          <p:cNvSpPr/>
          <p:nvPr/>
        </p:nvSpPr>
        <p:spPr>
          <a:xfrm>
            <a:off x="4297680" y="3063240"/>
            <a:ext cx="3429000" cy="914400"/>
          </a:xfrm>
          <a:prstGeom prst="roundRect">
            <a:avLst>
              <a:gd name="adj" fmla="val 9000"/>
            </a:avLst>
          </a:prstGeom>
          <a:solidFill>
            <a:srgbClr val="E9F7F5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4498848" y="3282696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7720" y="3401568"/>
            <a:ext cx="219456" cy="21945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166360" y="306324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Price (Target)</a:t>
            </a:r>
            <a:endParaRPr lang="en-US" sz="1400" dirty="0"/>
          </a:p>
        </p:txBody>
      </p:sp>
      <p:sp>
        <p:nvSpPr>
          <p:cNvPr id="25" name="Shape 18"/>
          <p:cNvSpPr/>
          <p:nvPr/>
        </p:nvSpPr>
        <p:spPr>
          <a:xfrm>
            <a:off x="7955280" y="3063240"/>
            <a:ext cx="3429000" cy="914400"/>
          </a:xfrm>
          <a:prstGeom prst="roundRect">
            <a:avLst>
              <a:gd name="adj" fmla="val 9000"/>
            </a:avLst>
          </a:prstGeom>
          <a:solidFill>
            <a:srgbClr val="F5F7FC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6" name="Shape 19"/>
          <p:cNvSpPr/>
          <p:nvPr/>
        </p:nvSpPr>
        <p:spPr>
          <a:xfrm>
            <a:off x="8156448" y="3282696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75320" y="3401568"/>
            <a:ext cx="219456" cy="219456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8823960" y="306324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Adjusted Close</a:t>
            </a:r>
            <a:endParaRPr lang="en-US" sz="1400" dirty="0"/>
          </a:p>
        </p:txBody>
      </p:sp>
      <p:sp>
        <p:nvSpPr>
          <p:cNvPr id="29" name="Shape 21"/>
          <p:cNvSpPr/>
          <p:nvPr/>
        </p:nvSpPr>
        <p:spPr>
          <a:xfrm>
            <a:off x="640080" y="4251960"/>
            <a:ext cx="3429000" cy="914400"/>
          </a:xfrm>
          <a:prstGeom prst="roundRect">
            <a:avLst>
              <a:gd name="adj" fmla="val 9000"/>
            </a:avLst>
          </a:prstGeom>
          <a:solidFill>
            <a:srgbClr val="F5F7FC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30" name="Shape 22"/>
          <p:cNvSpPr/>
          <p:nvPr/>
        </p:nvSpPr>
        <p:spPr>
          <a:xfrm>
            <a:off x="841248" y="4471416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0120" y="4590288"/>
            <a:ext cx="219456" cy="219456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1508760" y="425196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</a:t>
            </a:r>
            <a:endParaRPr lang="en-US" sz="1400" dirty="0"/>
          </a:p>
        </p:txBody>
      </p:sp>
      <p:sp>
        <p:nvSpPr>
          <p:cNvPr id="33" name="Text 24"/>
          <p:cNvSpPr/>
          <p:nvPr/>
        </p:nvSpPr>
        <p:spPr>
          <a:xfrm>
            <a:off x="11548872" y="63550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71432" y="3200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 · STOCK PREDICTION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Modeling Workflow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280160"/>
            <a:ext cx="3429000" cy="1371600"/>
          </a:xfrm>
          <a:prstGeom prst="roundRect">
            <a:avLst>
              <a:gd name="adj" fmla="val 6667"/>
            </a:avLst>
          </a:prstGeom>
          <a:solidFill>
            <a:srgbClr val="F5F7FC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508760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210312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required libraries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297680" y="1280160"/>
            <a:ext cx="3429000" cy="1371600"/>
          </a:xfrm>
          <a:prstGeom prst="roundRect">
            <a:avLst>
              <a:gd name="adj" fmla="val 6667"/>
            </a:avLst>
          </a:prstGeom>
          <a:solidFill>
            <a:srgbClr val="F5F7FC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26280" y="1508760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452628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26280" y="210312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stock market dataset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955280" y="1280160"/>
            <a:ext cx="3429000" cy="1371600"/>
          </a:xfrm>
          <a:prstGeom prst="roundRect">
            <a:avLst>
              <a:gd name="adj" fmla="val 6667"/>
            </a:avLst>
          </a:prstGeom>
          <a:solidFill>
            <a:srgbClr val="F5F7FC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183880" y="1508760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818388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183880" y="210312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 EDA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2907792"/>
            <a:ext cx="3429000" cy="1371600"/>
          </a:xfrm>
          <a:prstGeom prst="roundRect">
            <a:avLst>
              <a:gd name="adj" fmla="val 6667"/>
            </a:avLst>
          </a:prstGeom>
          <a:solidFill>
            <a:srgbClr val="F5F7FC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68680" y="3136392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31363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68680" y="3730752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missing values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4297680" y="2907792"/>
            <a:ext cx="3429000" cy="1371600"/>
          </a:xfrm>
          <a:prstGeom prst="roundRect">
            <a:avLst>
              <a:gd name="adj" fmla="val 6667"/>
            </a:avLst>
          </a:prstGeom>
          <a:solidFill>
            <a:srgbClr val="F5F7FC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26280" y="3136392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2" name="Text 20"/>
          <p:cNvSpPr/>
          <p:nvPr/>
        </p:nvSpPr>
        <p:spPr>
          <a:xfrm>
            <a:off x="4526280" y="31363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526280" y="3730752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relevant features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7955280" y="2907792"/>
            <a:ext cx="3429000" cy="1371600"/>
          </a:xfrm>
          <a:prstGeom prst="roundRect">
            <a:avLst>
              <a:gd name="adj" fmla="val 6667"/>
            </a:avLst>
          </a:prstGeom>
          <a:solidFill>
            <a:srgbClr val="F5F7FC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183880" y="3136392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6" name="Text 24"/>
          <p:cNvSpPr/>
          <p:nvPr/>
        </p:nvSpPr>
        <p:spPr>
          <a:xfrm>
            <a:off x="8183880" y="31363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183880" y="3730752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train / test sets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640080" y="4535424"/>
            <a:ext cx="3429000" cy="1371600"/>
          </a:xfrm>
          <a:prstGeom prst="roundRect">
            <a:avLst>
              <a:gd name="adj" fmla="val 6667"/>
            </a:avLst>
          </a:prstGeom>
          <a:solidFill>
            <a:srgbClr val="F5F7FC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68680" y="4764024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0" name="Text 28"/>
          <p:cNvSpPr/>
          <p:nvPr/>
        </p:nvSpPr>
        <p:spPr>
          <a:xfrm>
            <a:off x="868680" y="47640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68680" y="5358384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regression model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4297680" y="4535424"/>
            <a:ext cx="3429000" cy="1371600"/>
          </a:xfrm>
          <a:prstGeom prst="roundRect">
            <a:avLst>
              <a:gd name="adj" fmla="val 6667"/>
            </a:avLst>
          </a:prstGeom>
          <a:solidFill>
            <a:srgbClr val="F5F7FC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526280" y="4764024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4" name="Text 32"/>
          <p:cNvSpPr/>
          <p:nvPr/>
        </p:nvSpPr>
        <p:spPr>
          <a:xfrm>
            <a:off x="4526280" y="47640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4526280" y="5358384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stock prices</a:t>
            </a:r>
            <a:endParaRPr lang="en-US" sz="1350" dirty="0"/>
          </a:p>
        </p:txBody>
      </p:sp>
      <p:sp>
        <p:nvSpPr>
          <p:cNvPr id="36" name="Shape 34"/>
          <p:cNvSpPr/>
          <p:nvPr/>
        </p:nvSpPr>
        <p:spPr>
          <a:xfrm>
            <a:off x="7955280" y="4535424"/>
            <a:ext cx="3429000" cy="1371600"/>
          </a:xfrm>
          <a:prstGeom prst="roundRect">
            <a:avLst>
              <a:gd name="adj" fmla="val 6667"/>
            </a:avLst>
          </a:prstGeom>
          <a:solidFill>
            <a:srgbClr val="F5F7FC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8183880" y="4764024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8" name="Text 36"/>
          <p:cNvSpPr/>
          <p:nvPr/>
        </p:nvSpPr>
        <p:spPr>
          <a:xfrm>
            <a:off x="8183880" y="47640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183880" y="5358384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&amp; visualize results</a:t>
            </a:r>
            <a:endParaRPr lang="en-US" sz="1350" dirty="0"/>
          </a:p>
        </p:txBody>
      </p:sp>
      <p:sp>
        <p:nvSpPr>
          <p:cNvPr id="40" name="Text 38"/>
          <p:cNvSpPr/>
          <p:nvPr/>
        </p:nvSpPr>
        <p:spPr>
          <a:xfrm>
            <a:off x="11548872" y="63550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71432" y="3200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 · STOCK PREDICTION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Algorithm &amp; Evaluation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5029200" cy="4297680"/>
          </a:xfrm>
          <a:prstGeom prst="roundRect">
            <a:avLst>
              <a:gd name="adj" fmla="val 2553"/>
            </a:avLst>
          </a:prstGeom>
          <a:solidFill>
            <a:srgbClr val="263875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1828800"/>
            <a:ext cx="777240" cy="77724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6482" y="2030882"/>
            <a:ext cx="373075" cy="37307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74520" y="19659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Algorithm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14400" y="278892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Linear Regression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914400" y="3429000"/>
            <a:ext cx="44805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single, interpretable model was trained to map input features to a continuous target — the predicted stock closing price.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5989320" y="1554480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Metrics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989320" y="2103120"/>
            <a:ext cx="5577840" cy="777240"/>
          </a:xfrm>
          <a:prstGeom prst="roundRect">
            <a:avLst>
              <a:gd name="adj" fmla="val 11765"/>
            </a:avLst>
          </a:prstGeom>
          <a:solidFill>
            <a:srgbClr val="263875"/>
          </a:solidFill>
          <a:ln/>
        </p:spPr>
      </p:sp>
      <p:sp>
        <p:nvSpPr>
          <p:cNvPr id="12" name="Shape 9"/>
          <p:cNvSpPr/>
          <p:nvPr/>
        </p:nvSpPr>
        <p:spPr>
          <a:xfrm>
            <a:off x="6172200" y="2267712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1072" y="2386584"/>
            <a:ext cx="219456" cy="21945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812280" y="210312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Absolute Error (MAE)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5989320" y="3063240"/>
            <a:ext cx="5577840" cy="777240"/>
          </a:xfrm>
          <a:prstGeom prst="roundRect">
            <a:avLst>
              <a:gd name="adj" fmla="val 11765"/>
            </a:avLst>
          </a:prstGeom>
          <a:solidFill>
            <a:srgbClr val="263875"/>
          </a:solidFill>
          <a:ln/>
        </p:spPr>
      </p:sp>
      <p:sp>
        <p:nvSpPr>
          <p:cNvPr id="16" name="Shape 12"/>
          <p:cNvSpPr/>
          <p:nvPr/>
        </p:nvSpPr>
        <p:spPr>
          <a:xfrm>
            <a:off x="6172200" y="3227832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1072" y="3346704"/>
            <a:ext cx="219456" cy="21945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812280" y="306324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Squared Error (MSE)</a:t>
            </a:r>
            <a:endParaRPr lang="en-US" sz="1500" dirty="0"/>
          </a:p>
        </p:txBody>
      </p:sp>
      <p:sp>
        <p:nvSpPr>
          <p:cNvPr id="19" name="Shape 14"/>
          <p:cNvSpPr/>
          <p:nvPr/>
        </p:nvSpPr>
        <p:spPr>
          <a:xfrm>
            <a:off x="5989320" y="4023360"/>
            <a:ext cx="5577840" cy="777240"/>
          </a:xfrm>
          <a:prstGeom prst="roundRect">
            <a:avLst>
              <a:gd name="adj" fmla="val 11765"/>
            </a:avLst>
          </a:prstGeom>
          <a:solidFill>
            <a:srgbClr val="263875"/>
          </a:solidFill>
          <a:ln/>
        </p:spPr>
      </p:sp>
      <p:sp>
        <p:nvSpPr>
          <p:cNvPr id="20" name="Shape 15"/>
          <p:cNvSpPr/>
          <p:nvPr/>
        </p:nvSpPr>
        <p:spPr>
          <a:xfrm>
            <a:off x="6172200" y="4187952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1072" y="4306824"/>
            <a:ext cx="219456" cy="21945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812280" y="402336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Mean Squared Error (RMSE)</a:t>
            </a:r>
            <a:endParaRPr lang="en-US" sz="1500" dirty="0"/>
          </a:p>
        </p:txBody>
      </p:sp>
      <p:sp>
        <p:nvSpPr>
          <p:cNvPr id="23" name="Shape 17"/>
          <p:cNvSpPr/>
          <p:nvPr/>
        </p:nvSpPr>
        <p:spPr>
          <a:xfrm>
            <a:off x="5989320" y="4983480"/>
            <a:ext cx="5577840" cy="777240"/>
          </a:xfrm>
          <a:prstGeom prst="roundRect">
            <a:avLst>
              <a:gd name="adj" fmla="val 11765"/>
            </a:avLst>
          </a:prstGeom>
          <a:solidFill>
            <a:srgbClr val="263875"/>
          </a:solidFill>
          <a:ln/>
        </p:spPr>
      </p:sp>
      <p:sp>
        <p:nvSpPr>
          <p:cNvPr id="24" name="Shape 18"/>
          <p:cNvSpPr/>
          <p:nvPr/>
        </p:nvSpPr>
        <p:spPr>
          <a:xfrm>
            <a:off x="6172200" y="5148072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1072" y="5266944"/>
            <a:ext cx="219456" cy="219456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6812280" y="498348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Score</a:t>
            </a:r>
            <a:endParaRPr lang="en-US" sz="1500" dirty="0"/>
          </a:p>
        </p:txBody>
      </p:sp>
      <p:sp>
        <p:nvSpPr>
          <p:cNvPr id="27" name="Text 20"/>
          <p:cNvSpPr/>
          <p:nvPr/>
        </p:nvSpPr>
        <p:spPr>
          <a:xfrm>
            <a:off x="11548872" y="63550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71432" y="3200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85D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 · HEART DISEASE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640080" y="502920"/>
            <a:ext cx="731520" cy="731520"/>
          </a:xfrm>
          <a:prstGeom prst="ellipse">
            <a:avLst/>
          </a:prstGeom>
          <a:solidFill>
            <a:srgbClr val="E85D5D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0275" y="693115"/>
            <a:ext cx="351130" cy="35113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54480" y="5486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Heart Disease Prediction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155448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Project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40080" y="1828800"/>
            <a:ext cx="10881360" cy="1371600"/>
          </a:xfrm>
          <a:prstGeom prst="roundRect">
            <a:avLst>
              <a:gd name="adj" fmla="val 6667"/>
            </a:avLst>
          </a:prstGeom>
          <a:solidFill>
            <a:srgbClr val="263875"/>
          </a:solidFill>
          <a:ln/>
        </p:spPr>
      </p:sp>
      <p:sp>
        <p:nvSpPr>
          <p:cNvPr id="8" name="Text 5"/>
          <p:cNvSpPr/>
          <p:nvPr/>
        </p:nvSpPr>
        <p:spPr>
          <a:xfrm>
            <a:off x="914400" y="20116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5D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14400" y="233172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Machine Learning classification model to predict whether a patient is likely to have heart disease based on medical attributes.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40080" y="3429000"/>
            <a:ext cx="10881360" cy="2606040"/>
          </a:xfrm>
          <a:prstGeom prst="roundRect">
            <a:avLst>
              <a:gd name="adj" fmla="val 3509"/>
            </a:avLst>
          </a:prstGeom>
          <a:solidFill>
            <a:srgbClr val="263875"/>
          </a:solidFill>
          <a:ln/>
        </p:spPr>
      </p:sp>
      <p:sp>
        <p:nvSpPr>
          <p:cNvPr id="11" name="Text 8"/>
          <p:cNvSpPr/>
          <p:nvPr/>
        </p:nvSpPr>
        <p:spPr>
          <a:xfrm>
            <a:off x="914400" y="3611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5D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DESCRIPTION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914400" y="3977640"/>
            <a:ext cx="10241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analyzes patient health records and develops a classification model for heart disease prediction. Multiple classification algorithms are trained and compared to identify the best-performing model.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1548872" y="63550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71432" y="3200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85D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 · HEART DISEASE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Features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medical attributes used to train the classification models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2606040" cy="777240"/>
          </a:xfrm>
          <a:prstGeom prst="roundRect">
            <a:avLst>
              <a:gd name="adj" fmla="val 9412"/>
            </a:avLst>
          </a:prstGeom>
          <a:solidFill>
            <a:srgbClr val="F5F7FC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69164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429000" y="1691640"/>
            <a:ext cx="2606040" cy="777240"/>
          </a:xfrm>
          <a:prstGeom prst="roundRect">
            <a:avLst>
              <a:gd name="adj" fmla="val 9412"/>
            </a:avLst>
          </a:prstGeom>
          <a:solidFill>
            <a:srgbClr val="F5F7FC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566160" y="169164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Sex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17920" y="1691640"/>
            <a:ext cx="2606040" cy="777240"/>
          </a:xfrm>
          <a:prstGeom prst="roundRect">
            <a:avLst>
              <a:gd name="adj" fmla="val 9412"/>
            </a:avLst>
          </a:prstGeom>
          <a:solidFill>
            <a:srgbClr val="F5F7FC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355080" y="169164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Chest Pain Type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9006840" y="1691640"/>
            <a:ext cx="2606040" cy="777240"/>
          </a:xfrm>
          <a:prstGeom prst="roundRect">
            <a:avLst>
              <a:gd name="adj" fmla="val 9412"/>
            </a:avLst>
          </a:prstGeom>
          <a:solidFill>
            <a:srgbClr val="F5F7FC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144000" y="169164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Resting Blood Pressure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2651760"/>
            <a:ext cx="2606040" cy="777240"/>
          </a:xfrm>
          <a:prstGeom prst="roundRect">
            <a:avLst>
              <a:gd name="adj" fmla="val 9412"/>
            </a:avLst>
          </a:prstGeom>
          <a:solidFill>
            <a:srgbClr val="F5F7FC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77240" y="265176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Cholesterol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429000" y="2651760"/>
            <a:ext cx="2606040" cy="777240"/>
          </a:xfrm>
          <a:prstGeom prst="roundRect">
            <a:avLst>
              <a:gd name="adj" fmla="val 9412"/>
            </a:avLst>
          </a:prstGeom>
          <a:solidFill>
            <a:srgbClr val="F5F7FC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566160" y="265176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Fasting Blood Sugar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217920" y="2651760"/>
            <a:ext cx="2606040" cy="777240"/>
          </a:xfrm>
          <a:prstGeom prst="roundRect">
            <a:avLst>
              <a:gd name="adj" fmla="val 9412"/>
            </a:avLst>
          </a:prstGeom>
          <a:solidFill>
            <a:srgbClr val="F5F7FC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355080" y="265176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Resting ECG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006840" y="2651760"/>
            <a:ext cx="2606040" cy="777240"/>
          </a:xfrm>
          <a:prstGeom prst="roundRect">
            <a:avLst>
              <a:gd name="adj" fmla="val 9412"/>
            </a:avLst>
          </a:prstGeom>
          <a:solidFill>
            <a:srgbClr val="F5F7FC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144000" y="265176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Heart Rate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" y="3611880"/>
            <a:ext cx="2606040" cy="777240"/>
          </a:xfrm>
          <a:prstGeom prst="roundRect">
            <a:avLst>
              <a:gd name="adj" fmla="val 9412"/>
            </a:avLst>
          </a:prstGeom>
          <a:solidFill>
            <a:srgbClr val="F5F7FC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77240" y="361188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Exercise-Induced Angina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3429000" y="3611880"/>
            <a:ext cx="2606040" cy="777240"/>
          </a:xfrm>
          <a:prstGeom prst="roundRect">
            <a:avLst>
              <a:gd name="adj" fmla="val 9412"/>
            </a:avLst>
          </a:prstGeom>
          <a:solidFill>
            <a:srgbClr val="F5F7FC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566160" y="361188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 Depression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217920" y="3611880"/>
            <a:ext cx="2606040" cy="777240"/>
          </a:xfrm>
          <a:prstGeom prst="roundRect">
            <a:avLst>
              <a:gd name="adj" fmla="val 9412"/>
            </a:avLst>
          </a:prstGeom>
          <a:solidFill>
            <a:srgbClr val="F5F7FC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355080" y="361188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No. of Major Vessels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9006840" y="3611880"/>
            <a:ext cx="2606040" cy="777240"/>
          </a:xfrm>
          <a:prstGeom prst="roundRect">
            <a:avLst>
              <a:gd name="adj" fmla="val 9412"/>
            </a:avLst>
          </a:prstGeom>
          <a:solidFill>
            <a:srgbClr val="F5F7FC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9144000" y="361188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Thalassemia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40080" y="4572000"/>
            <a:ext cx="2606040" cy="777240"/>
          </a:xfrm>
          <a:prstGeom prst="roundRect">
            <a:avLst>
              <a:gd name="adj" fmla="val 9412"/>
            </a:avLst>
          </a:prstGeom>
          <a:solidFill>
            <a:srgbClr val="FCEAEA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77240" y="457200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(Heart Disease)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11548872" y="63550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71432" y="3200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85D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 · HEART DISEASE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Modeling Workflow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280160"/>
            <a:ext cx="3429000" cy="1371600"/>
          </a:xfrm>
          <a:prstGeom prst="roundRect">
            <a:avLst>
              <a:gd name="adj" fmla="val 6667"/>
            </a:avLst>
          </a:prstGeom>
          <a:solidFill>
            <a:srgbClr val="F5F7FC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508760"/>
            <a:ext cx="502920" cy="502920"/>
          </a:xfrm>
          <a:prstGeom prst="ellipse">
            <a:avLst/>
          </a:prstGeom>
          <a:solidFill>
            <a:srgbClr val="E85D5D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210312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required libraries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297680" y="1280160"/>
            <a:ext cx="3429000" cy="1371600"/>
          </a:xfrm>
          <a:prstGeom prst="roundRect">
            <a:avLst>
              <a:gd name="adj" fmla="val 6667"/>
            </a:avLst>
          </a:prstGeom>
          <a:solidFill>
            <a:srgbClr val="F5F7FC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26280" y="1508760"/>
            <a:ext cx="502920" cy="502920"/>
          </a:xfrm>
          <a:prstGeom prst="ellipse">
            <a:avLst/>
          </a:prstGeom>
          <a:solidFill>
            <a:srgbClr val="E85D5D"/>
          </a:solidFill>
          <a:ln/>
        </p:spPr>
      </p:sp>
      <p:sp>
        <p:nvSpPr>
          <p:cNvPr id="10" name="Text 8"/>
          <p:cNvSpPr/>
          <p:nvPr/>
        </p:nvSpPr>
        <p:spPr>
          <a:xfrm>
            <a:off x="452628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26280" y="210312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the dataset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955280" y="1280160"/>
            <a:ext cx="3429000" cy="1371600"/>
          </a:xfrm>
          <a:prstGeom prst="roundRect">
            <a:avLst>
              <a:gd name="adj" fmla="val 6667"/>
            </a:avLst>
          </a:prstGeom>
          <a:solidFill>
            <a:srgbClr val="F5F7FC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183880" y="1508760"/>
            <a:ext cx="502920" cy="502920"/>
          </a:xfrm>
          <a:prstGeom prst="ellipse">
            <a:avLst/>
          </a:prstGeom>
          <a:solidFill>
            <a:srgbClr val="E85D5D"/>
          </a:solidFill>
          <a:ln/>
        </p:spPr>
      </p:sp>
      <p:sp>
        <p:nvSpPr>
          <p:cNvPr id="14" name="Text 12"/>
          <p:cNvSpPr/>
          <p:nvPr/>
        </p:nvSpPr>
        <p:spPr>
          <a:xfrm>
            <a:off x="818388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183880" y="210312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 EDA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2907792"/>
            <a:ext cx="3429000" cy="1371600"/>
          </a:xfrm>
          <a:prstGeom prst="roundRect">
            <a:avLst>
              <a:gd name="adj" fmla="val 6667"/>
            </a:avLst>
          </a:prstGeom>
          <a:solidFill>
            <a:srgbClr val="F5F7FC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68680" y="3136392"/>
            <a:ext cx="502920" cy="502920"/>
          </a:xfrm>
          <a:prstGeom prst="ellipse">
            <a:avLst/>
          </a:prstGeom>
          <a:solidFill>
            <a:srgbClr val="E85D5D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31363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68680" y="3730752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missing values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4297680" y="2907792"/>
            <a:ext cx="3429000" cy="1371600"/>
          </a:xfrm>
          <a:prstGeom prst="roundRect">
            <a:avLst>
              <a:gd name="adj" fmla="val 6667"/>
            </a:avLst>
          </a:prstGeom>
          <a:solidFill>
            <a:srgbClr val="F5F7FC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26280" y="3136392"/>
            <a:ext cx="502920" cy="502920"/>
          </a:xfrm>
          <a:prstGeom prst="ellipse">
            <a:avLst/>
          </a:prstGeom>
          <a:solidFill>
            <a:srgbClr val="E85D5D"/>
          </a:solidFill>
          <a:ln/>
        </p:spPr>
      </p:sp>
      <p:sp>
        <p:nvSpPr>
          <p:cNvPr id="22" name="Text 20"/>
          <p:cNvSpPr/>
          <p:nvPr/>
        </p:nvSpPr>
        <p:spPr>
          <a:xfrm>
            <a:off x="4526280" y="31363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526280" y="3730752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 categorical variables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7955280" y="2907792"/>
            <a:ext cx="3429000" cy="1371600"/>
          </a:xfrm>
          <a:prstGeom prst="roundRect">
            <a:avLst>
              <a:gd name="adj" fmla="val 6667"/>
            </a:avLst>
          </a:prstGeom>
          <a:solidFill>
            <a:srgbClr val="F5F7FC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183880" y="3136392"/>
            <a:ext cx="502920" cy="502920"/>
          </a:xfrm>
          <a:prstGeom prst="ellipse">
            <a:avLst/>
          </a:prstGeom>
          <a:solidFill>
            <a:srgbClr val="E85D5D"/>
          </a:solidFill>
          <a:ln/>
        </p:spPr>
      </p:sp>
      <p:sp>
        <p:nvSpPr>
          <p:cNvPr id="26" name="Text 24"/>
          <p:cNvSpPr/>
          <p:nvPr/>
        </p:nvSpPr>
        <p:spPr>
          <a:xfrm>
            <a:off x="8183880" y="31363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183880" y="3730752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numerical features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640080" y="4535424"/>
            <a:ext cx="3429000" cy="1371600"/>
          </a:xfrm>
          <a:prstGeom prst="roundRect">
            <a:avLst>
              <a:gd name="adj" fmla="val 6667"/>
            </a:avLst>
          </a:prstGeom>
          <a:solidFill>
            <a:srgbClr val="F5F7FC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68680" y="4764024"/>
            <a:ext cx="502920" cy="502920"/>
          </a:xfrm>
          <a:prstGeom prst="ellipse">
            <a:avLst/>
          </a:prstGeom>
          <a:solidFill>
            <a:srgbClr val="E85D5D"/>
          </a:solidFill>
          <a:ln/>
        </p:spPr>
      </p:sp>
      <p:sp>
        <p:nvSpPr>
          <p:cNvPr id="30" name="Text 28"/>
          <p:cNvSpPr/>
          <p:nvPr/>
        </p:nvSpPr>
        <p:spPr>
          <a:xfrm>
            <a:off x="868680" y="47640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68680" y="5358384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train / test sets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4297680" y="4535424"/>
            <a:ext cx="3429000" cy="1371600"/>
          </a:xfrm>
          <a:prstGeom prst="roundRect">
            <a:avLst>
              <a:gd name="adj" fmla="val 6667"/>
            </a:avLst>
          </a:prstGeom>
          <a:solidFill>
            <a:srgbClr val="F5F7FC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526280" y="4764024"/>
            <a:ext cx="502920" cy="502920"/>
          </a:xfrm>
          <a:prstGeom prst="ellipse">
            <a:avLst/>
          </a:prstGeom>
          <a:solidFill>
            <a:srgbClr val="E85D5D"/>
          </a:solidFill>
          <a:ln/>
        </p:spPr>
      </p:sp>
      <p:sp>
        <p:nvSpPr>
          <p:cNvPr id="34" name="Text 32"/>
          <p:cNvSpPr/>
          <p:nvPr/>
        </p:nvSpPr>
        <p:spPr>
          <a:xfrm>
            <a:off x="4526280" y="47640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4526280" y="5358384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multiple classifiers</a:t>
            </a:r>
            <a:endParaRPr lang="en-US" sz="1350" dirty="0"/>
          </a:p>
        </p:txBody>
      </p:sp>
      <p:sp>
        <p:nvSpPr>
          <p:cNvPr id="36" name="Shape 34"/>
          <p:cNvSpPr/>
          <p:nvPr/>
        </p:nvSpPr>
        <p:spPr>
          <a:xfrm>
            <a:off x="7955280" y="4535424"/>
            <a:ext cx="3429000" cy="1371600"/>
          </a:xfrm>
          <a:prstGeom prst="roundRect">
            <a:avLst>
              <a:gd name="adj" fmla="val 6667"/>
            </a:avLst>
          </a:prstGeom>
          <a:solidFill>
            <a:srgbClr val="F5F7FC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8183880" y="4764024"/>
            <a:ext cx="502920" cy="502920"/>
          </a:xfrm>
          <a:prstGeom prst="ellipse">
            <a:avLst/>
          </a:prstGeom>
          <a:solidFill>
            <a:srgbClr val="E85D5D"/>
          </a:solidFill>
          <a:ln/>
        </p:spPr>
      </p:sp>
      <p:sp>
        <p:nvSpPr>
          <p:cNvPr id="38" name="Text 36"/>
          <p:cNvSpPr/>
          <p:nvPr/>
        </p:nvSpPr>
        <p:spPr>
          <a:xfrm>
            <a:off x="8183880" y="47640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183880" y="5358384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&amp; compare performance</a:t>
            </a:r>
            <a:endParaRPr lang="en-US" sz="1350" dirty="0"/>
          </a:p>
        </p:txBody>
      </p:sp>
      <p:sp>
        <p:nvSpPr>
          <p:cNvPr id="40" name="Text 38"/>
          <p:cNvSpPr/>
          <p:nvPr/>
        </p:nvSpPr>
        <p:spPr>
          <a:xfrm>
            <a:off x="11548872" y="63550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71432" y="3200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85D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 · HEART DISEASE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Algorithms &amp; Evaluation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 Compared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5212080" cy="594360"/>
          </a:xfrm>
          <a:prstGeom prst="roundRect">
            <a:avLst>
              <a:gd name="adj" fmla="val 13846"/>
            </a:avLst>
          </a:prstGeom>
          <a:solidFill>
            <a:srgbClr val="263875"/>
          </a:solidFill>
          <a:ln/>
        </p:spPr>
      </p:sp>
      <p:sp>
        <p:nvSpPr>
          <p:cNvPr id="6" name="Shape 4"/>
          <p:cNvSpPr/>
          <p:nvPr/>
        </p:nvSpPr>
        <p:spPr>
          <a:xfrm>
            <a:off x="795528" y="1965960"/>
            <a:ext cx="411480" cy="4114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2513" y="2072945"/>
            <a:ext cx="197510" cy="19751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1874520"/>
            <a:ext cx="4343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40080" y="2651760"/>
            <a:ext cx="5212080" cy="594360"/>
          </a:xfrm>
          <a:prstGeom prst="roundRect">
            <a:avLst>
              <a:gd name="adj" fmla="val 13846"/>
            </a:avLst>
          </a:prstGeom>
          <a:solidFill>
            <a:srgbClr val="263875"/>
          </a:solidFill>
          <a:ln/>
        </p:spPr>
      </p:sp>
      <p:sp>
        <p:nvSpPr>
          <p:cNvPr id="10" name="Shape 7"/>
          <p:cNvSpPr/>
          <p:nvPr/>
        </p:nvSpPr>
        <p:spPr>
          <a:xfrm>
            <a:off x="795528" y="2743200"/>
            <a:ext cx="411480" cy="4114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2513" y="2850185"/>
            <a:ext cx="197510" cy="19751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71600" y="2651760"/>
            <a:ext cx="4343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 Classifier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640080" y="3429000"/>
            <a:ext cx="5212080" cy="594360"/>
          </a:xfrm>
          <a:prstGeom prst="roundRect">
            <a:avLst>
              <a:gd name="adj" fmla="val 13846"/>
            </a:avLst>
          </a:prstGeom>
          <a:solidFill>
            <a:srgbClr val="263875"/>
          </a:solidFill>
          <a:ln/>
        </p:spPr>
      </p:sp>
      <p:sp>
        <p:nvSpPr>
          <p:cNvPr id="14" name="Shape 10"/>
          <p:cNvSpPr/>
          <p:nvPr/>
        </p:nvSpPr>
        <p:spPr>
          <a:xfrm>
            <a:off x="795528" y="3520440"/>
            <a:ext cx="411480" cy="4114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2513" y="3627425"/>
            <a:ext cx="197510" cy="19751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371600" y="3429000"/>
            <a:ext cx="4343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Classifier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640080" y="4206240"/>
            <a:ext cx="5212080" cy="594360"/>
          </a:xfrm>
          <a:prstGeom prst="roundRect">
            <a:avLst>
              <a:gd name="adj" fmla="val 13846"/>
            </a:avLst>
          </a:prstGeom>
          <a:solidFill>
            <a:srgbClr val="263875"/>
          </a:solidFill>
          <a:ln/>
        </p:spPr>
      </p:sp>
      <p:sp>
        <p:nvSpPr>
          <p:cNvPr id="18" name="Shape 13"/>
          <p:cNvSpPr/>
          <p:nvPr/>
        </p:nvSpPr>
        <p:spPr>
          <a:xfrm>
            <a:off x="795528" y="4297680"/>
            <a:ext cx="411480" cy="4114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2513" y="4404665"/>
            <a:ext cx="197510" cy="19751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371600" y="4206240"/>
            <a:ext cx="4343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K-Nearest Neighbors (KNN)</a:t>
            </a:r>
            <a:endParaRPr lang="en-US" sz="1400" dirty="0"/>
          </a:p>
        </p:txBody>
      </p:sp>
      <p:sp>
        <p:nvSpPr>
          <p:cNvPr id="21" name="Shape 15"/>
          <p:cNvSpPr/>
          <p:nvPr/>
        </p:nvSpPr>
        <p:spPr>
          <a:xfrm>
            <a:off x="640080" y="4983480"/>
            <a:ext cx="5212080" cy="594360"/>
          </a:xfrm>
          <a:prstGeom prst="roundRect">
            <a:avLst>
              <a:gd name="adj" fmla="val 13846"/>
            </a:avLst>
          </a:prstGeom>
          <a:solidFill>
            <a:srgbClr val="263875"/>
          </a:solidFill>
          <a:ln/>
        </p:spPr>
      </p:sp>
      <p:sp>
        <p:nvSpPr>
          <p:cNvPr id="22" name="Shape 16"/>
          <p:cNvSpPr/>
          <p:nvPr/>
        </p:nvSpPr>
        <p:spPr>
          <a:xfrm>
            <a:off x="795528" y="5074920"/>
            <a:ext cx="411480" cy="4114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2513" y="5181905"/>
            <a:ext cx="197510" cy="19751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371600" y="4983480"/>
            <a:ext cx="4343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Vector Machine (SVM)</a:t>
            </a:r>
            <a:endParaRPr lang="en-US" sz="1400" dirty="0"/>
          </a:p>
        </p:txBody>
      </p:sp>
      <p:sp>
        <p:nvSpPr>
          <p:cNvPr id="25" name="Text 18"/>
          <p:cNvSpPr/>
          <p:nvPr/>
        </p:nvSpPr>
        <p:spPr>
          <a:xfrm>
            <a:off x="6263640" y="14173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Metrics</a:t>
            </a:r>
            <a:endParaRPr lang="en-US" sz="1400" dirty="0"/>
          </a:p>
        </p:txBody>
      </p:sp>
      <p:sp>
        <p:nvSpPr>
          <p:cNvPr id="26" name="Shape 19"/>
          <p:cNvSpPr/>
          <p:nvPr/>
        </p:nvSpPr>
        <p:spPr>
          <a:xfrm>
            <a:off x="6263640" y="1874520"/>
            <a:ext cx="5303520" cy="594360"/>
          </a:xfrm>
          <a:prstGeom prst="roundRect">
            <a:avLst>
              <a:gd name="adj" fmla="val 13846"/>
            </a:avLst>
          </a:prstGeom>
          <a:solidFill>
            <a:srgbClr val="263875"/>
          </a:solidFill>
          <a:ln/>
        </p:spPr>
      </p:sp>
      <p:sp>
        <p:nvSpPr>
          <p:cNvPr id="27" name="Shape 20"/>
          <p:cNvSpPr/>
          <p:nvPr/>
        </p:nvSpPr>
        <p:spPr>
          <a:xfrm>
            <a:off x="6419088" y="1965960"/>
            <a:ext cx="411480" cy="4114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26073" y="2072945"/>
            <a:ext cx="197510" cy="197510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6995160" y="1874520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Score</a:t>
            </a:r>
            <a:endParaRPr lang="en-US" sz="1400" dirty="0"/>
          </a:p>
        </p:txBody>
      </p:sp>
      <p:sp>
        <p:nvSpPr>
          <p:cNvPr id="30" name="Shape 22"/>
          <p:cNvSpPr/>
          <p:nvPr/>
        </p:nvSpPr>
        <p:spPr>
          <a:xfrm>
            <a:off x="6263640" y="2651760"/>
            <a:ext cx="5303520" cy="594360"/>
          </a:xfrm>
          <a:prstGeom prst="roundRect">
            <a:avLst>
              <a:gd name="adj" fmla="val 13846"/>
            </a:avLst>
          </a:prstGeom>
          <a:solidFill>
            <a:srgbClr val="263875"/>
          </a:solidFill>
          <a:ln/>
        </p:spPr>
      </p:sp>
      <p:sp>
        <p:nvSpPr>
          <p:cNvPr id="31" name="Shape 23"/>
          <p:cNvSpPr/>
          <p:nvPr/>
        </p:nvSpPr>
        <p:spPr>
          <a:xfrm>
            <a:off x="6419088" y="2743200"/>
            <a:ext cx="411480" cy="4114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26073" y="2850185"/>
            <a:ext cx="197510" cy="197510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6995160" y="2651760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400" dirty="0"/>
          </a:p>
        </p:txBody>
      </p:sp>
      <p:sp>
        <p:nvSpPr>
          <p:cNvPr id="34" name="Shape 25"/>
          <p:cNvSpPr/>
          <p:nvPr/>
        </p:nvSpPr>
        <p:spPr>
          <a:xfrm>
            <a:off x="6263640" y="3429000"/>
            <a:ext cx="5303520" cy="594360"/>
          </a:xfrm>
          <a:prstGeom prst="roundRect">
            <a:avLst>
              <a:gd name="adj" fmla="val 13846"/>
            </a:avLst>
          </a:prstGeom>
          <a:solidFill>
            <a:srgbClr val="263875"/>
          </a:solidFill>
          <a:ln/>
        </p:spPr>
      </p:sp>
      <p:sp>
        <p:nvSpPr>
          <p:cNvPr id="35" name="Shape 26"/>
          <p:cNvSpPr/>
          <p:nvPr/>
        </p:nvSpPr>
        <p:spPr>
          <a:xfrm>
            <a:off x="6419088" y="3520440"/>
            <a:ext cx="411480" cy="4114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26073" y="3627425"/>
            <a:ext cx="197510" cy="197510"/>
          </a:xfrm>
          <a:prstGeom prst="rect">
            <a:avLst/>
          </a:prstGeom>
        </p:spPr>
      </p:pic>
      <p:sp>
        <p:nvSpPr>
          <p:cNvPr id="37" name="Text 27"/>
          <p:cNvSpPr/>
          <p:nvPr/>
        </p:nvSpPr>
        <p:spPr>
          <a:xfrm>
            <a:off x="6995160" y="3429000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400" dirty="0"/>
          </a:p>
        </p:txBody>
      </p:sp>
      <p:sp>
        <p:nvSpPr>
          <p:cNvPr id="38" name="Shape 28"/>
          <p:cNvSpPr/>
          <p:nvPr/>
        </p:nvSpPr>
        <p:spPr>
          <a:xfrm>
            <a:off x="6263640" y="4206240"/>
            <a:ext cx="5303520" cy="594360"/>
          </a:xfrm>
          <a:prstGeom prst="roundRect">
            <a:avLst>
              <a:gd name="adj" fmla="val 13846"/>
            </a:avLst>
          </a:prstGeom>
          <a:solidFill>
            <a:srgbClr val="263875"/>
          </a:solidFill>
          <a:ln/>
        </p:spPr>
      </p:sp>
      <p:sp>
        <p:nvSpPr>
          <p:cNvPr id="39" name="Shape 29"/>
          <p:cNvSpPr/>
          <p:nvPr/>
        </p:nvSpPr>
        <p:spPr>
          <a:xfrm>
            <a:off x="6419088" y="4297680"/>
            <a:ext cx="411480" cy="4114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4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26073" y="4404665"/>
            <a:ext cx="197510" cy="197510"/>
          </a:xfrm>
          <a:prstGeom prst="rect">
            <a:avLst/>
          </a:prstGeom>
        </p:spPr>
      </p:pic>
      <p:sp>
        <p:nvSpPr>
          <p:cNvPr id="41" name="Text 30"/>
          <p:cNvSpPr/>
          <p:nvPr/>
        </p:nvSpPr>
        <p:spPr>
          <a:xfrm>
            <a:off x="6995160" y="4206240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</a:t>
            </a:r>
            <a:endParaRPr lang="en-US" sz="1400" dirty="0"/>
          </a:p>
        </p:txBody>
      </p:sp>
      <p:sp>
        <p:nvSpPr>
          <p:cNvPr id="42" name="Shape 31"/>
          <p:cNvSpPr/>
          <p:nvPr/>
        </p:nvSpPr>
        <p:spPr>
          <a:xfrm>
            <a:off x="6263640" y="4983480"/>
            <a:ext cx="5303520" cy="594360"/>
          </a:xfrm>
          <a:prstGeom prst="roundRect">
            <a:avLst>
              <a:gd name="adj" fmla="val 13846"/>
            </a:avLst>
          </a:prstGeom>
          <a:solidFill>
            <a:srgbClr val="263875"/>
          </a:solidFill>
          <a:ln/>
        </p:spPr>
      </p:sp>
      <p:sp>
        <p:nvSpPr>
          <p:cNvPr id="43" name="Shape 32"/>
          <p:cNvSpPr/>
          <p:nvPr/>
        </p:nvSpPr>
        <p:spPr>
          <a:xfrm>
            <a:off x="6419088" y="5074920"/>
            <a:ext cx="411480" cy="4114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4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26073" y="5181905"/>
            <a:ext cx="197510" cy="197510"/>
          </a:xfrm>
          <a:prstGeom prst="rect">
            <a:avLst/>
          </a:prstGeom>
        </p:spPr>
      </p:pic>
      <p:sp>
        <p:nvSpPr>
          <p:cNvPr id="45" name="Text 33"/>
          <p:cNvSpPr/>
          <p:nvPr/>
        </p:nvSpPr>
        <p:spPr>
          <a:xfrm>
            <a:off x="6995160" y="4983480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</a:t>
            </a:r>
            <a:endParaRPr lang="en-US" sz="1400" dirty="0"/>
          </a:p>
        </p:txBody>
      </p:sp>
      <p:sp>
        <p:nvSpPr>
          <p:cNvPr id="46" name="Text 34"/>
          <p:cNvSpPr/>
          <p:nvPr/>
        </p:nvSpPr>
        <p:spPr>
          <a:xfrm>
            <a:off x="11548872" y="63550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71432" y="3200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STRUCTURE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Technologies Used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2514600" cy="1005840"/>
          </a:xfrm>
          <a:prstGeom prst="roundRect">
            <a:avLst>
              <a:gd name="adj" fmla="val 9091"/>
            </a:avLst>
          </a:prstGeom>
          <a:solidFill>
            <a:srgbClr val="F5F7FC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4401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5431" y="1570939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188720"/>
            <a:ext cx="1600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337560" y="1188720"/>
            <a:ext cx="2514600" cy="1005840"/>
          </a:xfrm>
          <a:prstGeom prst="roundRect">
            <a:avLst>
              <a:gd name="adj" fmla="val 9091"/>
            </a:avLst>
          </a:prstGeom>
          <a:solidFill>
            <a:srgbClr val="F5F7FC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502152" y="14401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2911" y="1570939"/>
            <a:ext cx="241402" cy="24140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114800" y="1188720"/>
            <a:ext cx="1600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 Notebook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035040" y="1188720"/>
            <a:ext cx="2514600" cy="1005840"/>
          </a:xfrm>
          <a:prstGeom prst="roundRect">
            <a:avLst>
              <a:gd name="adj" fmla="val 9091"/>
            </a:avLst>
          </a:prstGeom>
          <a:solidFill>
            <a:srgbClr val="F5F7FC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6199632" y="14401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0391" y="1570939"/>
            <a:ext cx="241402" cy="24140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812280" y="1188720"/>
            <a:ext cx="1600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8732520" y="1188720"/>
            <a:ext cx="2514600" cy="1005840"/>
          </a:xfrm>
          <a:prstGeom prst="roundRect">
            <a:avLst>
              <a:gd name="adj" fmla="val 9091"/>
            </a:avLst>
          </a:prstGeom>
          <a:solidFill>
            <a:srgbClr val="F5F7FC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897112" y="14401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27871" y="1570939"/>
            <a:ext cx="241402" cy="24140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509760" y="1188720"/>
            <a:ext cx="1600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640080" y="2423160"/>
            <a:ext cx="2514600" cy="1005840"/>
          </a:xfrm>
          <a:prstGeom prst="roundRect">
            <a:avLst>
              <a:gd name="adj" fmla="val 9091"/>
            </a:avLst>
          </a:prstGeom>
          <a:solidFill>
            <a:srgbClr val="F5F7FC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804672" y="26746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5431" y="2805379"/>
            <a:ext cx="241402" cy="24140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417320" y="2423160"/>
            <a:ext cx="1600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</a:t>
            </a:r>
            <a:endParaRPr lang="en-US" sz="1300" dirty="0"/>
          </a:p>
        </p:txBody>
      </p:sp>
      <p:sp>
        <p:nvSpPr>
          <p:cNvPr id="24" name="Shape 17"/>
          <p:cNvSpPr/>
          <p:nvPr/>
        </p:nvSpPr>
        <p:spPr>
          <a:xfrm>
            <a:off x="3337560" y="2423160"/>
            <a:ext cx="2514600" cy="1005840"/>
          </a:xfrm>
          <a:prstGeom prst="roundRect">
            <a:avLst>
              <a:gd name="adj" fmla="val 9091"/>
            </a:avLst>
          </a:prstGeom>
          <a:solidFill>
            <a:srgbClr val="F5F7FC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25" name="Shape 18"/>
          <p:cNvSpPr/>
          <p:nvPr/>
        </p:nvSpPr>
        <p:spPr>
          <a:xfrm>
            <a:off x="3502152" y="26746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32911" y="2805379"/>
            <a:ext cx="241402" cy="241402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4114800" y="2423160"/>
            <a:ext cx="1600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300" dirty="0"/>
          </a:p>
        </p:txBody>
      </p:sp>
      <p:sp>
        <p:nvSpPr>
          <p:cNvPr id="28" name="Shape 20"/>
          <p:cNvSpPr/>
          <p:nvPr/>
        </p:nvSpPr>
        <p:spPr>
          <a:xfrm>
            <a:off x="6035040" y="2423160"/>
            <a:ext cx="2514600" cy="1005840"/>
          </a:xfrm>
          <a:prstGeom prst="roundRect">
            <a:avLst>
              <a:gd name="adj" fmla="val 9091"/>
            </a:avLst>
          </a:prstGeom>
          <a:solidFill>
            <a:srgbClr val="F5F7FC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29" name="Shape 21"/>
          <p:cNvSpPr/>
          <p:nvPr/>
        </p:nvSpPr>
        <p:spPr>
          <a:xfrm>
            <a:off x="6199632" y="26746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30391" y="2805379"/>
            <a:ext cx="241402" cy="241402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6812280" y="2423160"/>
            <a:ext cx="1600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yFinance</a:t>
            </a:r>
            <a:endParaRPr lang="en-US" sz="1300" dirty="0"/>
          </a:p>
        </p:txBody>
      </p:sp>
      <p:sp>
        <p:nvSpPr>
          <p:cNvPr id="32" name="Text 23"/>
          <p:cNvSpPr/>
          <p:nvPr/>
        </p:nvSpPr>
        <p:spPr>
          <a:xfrm>
            <a:off x="640080" y="37947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Repository Structure</a:t>
            </a:r>
            <a:endParaRPr lang="en-US" sz="2200" dirty="0"/>
          </a:p>
        </p:txBody>
      </p:sp>
      <p:sp>
        <p:nvSpPr>
          <p:cNvPr id="33" name="Shape 24"/>
          <p:cNvSpPr/>
          <p:nvPr/>
        </p:nvSpPr>
        <p:spPr>
          <a:xfrm>
            <a:off x="640080" y="4343400"/>
            <a:ext cx="10881360" cy="2148840"/>
          </a:xfrm>
          <a:prstGeom prst="roundRect">
            <a:avLst>
              <a:gd name="adj" fmla="val 4255"/>
            </a:avLst>
          </a:prstGeom>
          <a:solidFill>
            <a:srgbClr val="1E2761"/>
          </a:solidFill>
          <a:ln/>
        </p:spPr>
      </p:sp>
      <p:sp>
        <p:nvSpPr>
          <p:cNvPr id="34" name="Text 25"/>
          <p:cNvSpPr/>
          <p:nvPr/>
        </p:nvSpPr>
        <p:spPr>
          <a:xfrm>
            <a:off x="1005840" y="4526280"/>
            <a:ext cx="10149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DevAlpha-Internship/</a:t>
            </a:r>
            <a:endParaRPr lang="en-US" sz="14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Dataset Prediction Model/</a:t>
            </a:r>
            <a:endParaRPr lang="en-US" sz="14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└── Stock Price Prediction.ipynb</a:t>
            </a:r>
            <a:endParaRPr lang="en-US" sz="14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Classification Project/</a:t>
            </a:r>
            <a:endParaRPr lang="en-US" sz="14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├── Heart Disease.ipynb</a:t>
            </a:r>
            <a:endParaRPr lang="en-US" sz="14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└── heart_disease.csv</a:t>
            </a:r>
            <a:endParaRPr lang="en-US" sz="14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README.md</a:t>
            </a:r>
            <a:endParaRPr lang="en-US" sz="1450" dirty="0"/>
          </a:p>
        </p:txBody>
      </p:sp>
      <p:sp>
        <p:nvSpPr>
          <p:cNvPr id="35" name="Text 26"/>
          <p:cNvSpPr/>
          <p:nvPr/>
        </p:nvSpPr>
        <p:spPr>
          <a:xfrm>
            <a:off x="11548872" y="63550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097280"/>
            <a:ext cx="3200400" cy="3200400"/>
          </a:xfrm>
          <a:prstGeom prst="ellipse">
            <a:avLst/>
          </a:prstGeom>
          <a:solidFill>
            <a:srgbClr val="263875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Outcomes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53949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 a regression model for stock price prediction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classification model for heart disease prediction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Performed data preprocessing &amp; exploratory data analysis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feature engineering and model evaluation techniques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Compared ML algorithms to select best-performing models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309360" y="5029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Skills Demonstrated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309360" y="1188720"/>
            <a:ext cx="2717597" cy="457200"/>
          </a:xfrm>
          <a:prstGeom prst="roundRect">
            <a:avLst>
              <a:gd name="adj" fmla="val 50000"/>
            </a:avLst>
          </a:prstGeom>
          <a:solidFill>
            <a:srgbClr val="263875"/>
          </a:solidFill>
          <a:ln/>
        </p:spPr>
      </p:sp>
      <p:sp>
        <p:nvSpPr>
          <p:cNvPr id="7" name="Text 5"/>
          <p:cNvSpPr/>
          <p:nvPr/>
        </p:nvSpPr>
        <p:spPr>
          <a:xfrm>
            <a:off x="6309360" y="1188720"/>
            <a:ext cx="271759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&amp; Preprocessing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309360" y="1773936"/>
            <a:ext cx="2395728" cy="457200"/>
          </a:xfrm>
          <a:prstGeom prst="roundRect">
            <a:avLst>
              <a:gd name="adj" fmla="val 50000"/>
            </a:avLst>
          </a:prstGeom>
          <a:solidFill>
            <a:srgbClr val="263875"/>
          </a:solidFill>
          <a:ln/>
        </p:spPr>
      </p:sp>
      <p:sp>
        <p:nvSpPr>
          <p:cNvPr id="9" name="Text 7"/>
          <p:cNvSpPr/>
          <p:nvPr/>
        </p:nvSpPr>
        <p:spPr>
          <a:xfrm>
            <a:off x="6309360" y="1773936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09360" y="2359152"/>
            <a:ext cx="3280867" cy="457200"/>
          </a:xfrm>
          <a:prstGeom prst="roundRect">
            <a:avLst>
              <a:gd name="adj" fmla="val 50000"/>
            </a:avLst>
          </a:prstGeom>
          <a:solidFill>
            <a:srgbClr val="263875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2359152"/>
            <a:ext cx="328086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&amp; Classification Modeling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09360" y="2944368"/>
            <a:ext cx="1912925" cy="457200"/>
          </a:xfrm>
          <a:prstGeom prst="roundRect">
            <a:avLst>
              <a:gd name="adj" fmla="val 50000"/>
            </a:avLst>
          </a:prstGeom>
          <a:solidFill>
            <a:srgbClr val="263875"/>
          </a:solidFill>
          <a:ln/>
        </p:spPr>
      </p:sp>
      <p:sp>
        <p:nvSpPr>
          <p:cNvPr id="13" name="Text 11"/>
          <p:cNvSpPr/>
          <p:nvPr/>
        </p:nvSpPr>
        <p:spPr>
          <a:xfrm>
            <a:off x="6309360" y="2944368"/>
            <a:ext cx="19129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309360" y="3529584"/>
            <a:ext cx="2556662" cy="457200"/>
          </a:xfrm>
          <a:prstGeom prst="roundRect">
            <a:avLst>
              <a:gd name="adj" fmla="val 50000"/>
            </a:avLst>
          </a:prstGeom>
          <a:solidFill>
            <a:srgbClr val="263875"/>
          </a:solidFill>
          <a:ln/>
        </p:spPr>
      </p:sp>
      <p:sp>
        <p:nvSpPr>
          <p:cNvPr id="15" name="Text 13"/>
          <p:cNvSpPr/>
          <p:nvPr/>
        </p:nvSpPr>
        <p:spPr>
          <a:xfrm>
            <a:off x="6309360" y="3529584"/>
            <a:ext cx="255666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 &amp; Evaluation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309360" y="4114800"/>
            <a:ext cx="1832458" cy="457200"/>
          </a:xfrm>
          <a:prstGeom prst="roundRect">
            <a:avLst>
              <a:gd name="adj" fmla="val 50000"/>
            </a:avLst>
          </a:prstGeom>
          <a:solidFill>
            <a:srgbClr val="263875"/>
          </a:solidFill>
          <a:ln/>
        </p:spPr>
      </p:sp>
      <p:sp>
        <p:nvSpPr>
          <p:cNvPr id="17" name="Text 15"/>
          <p:cNvSpPr/>
          <p:nvPr/>
        </p:nvSpPr>
        <p:spPr>
          <a:xfrm>
            <a:off x="6309360" y="4114800"/>
            <a:ext cx="18324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Visualization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309360" y="4700016"/>
            <a:ext cx="2073859" cy="457200"/>
          </a:xfrm>
          <a:prstGeom prst="roundRect">
            <a:avLst>
              <a:gd name="adj" fmla="val 50000"/>
            </a:avLst>
          </a:prstGeom>
          <a:solidFill>
            <a:srgbClr val="263875"/>
          </a:solidFill>
          <a:ln/>
        </p:spPr>
      </p:sp>
      <p:sp>
        <p:nvSpPr>
          <p:cNvPr id="19" name="Text 17"/>
          <p:cNvSpPr/>
          <p:nvPr/>
        </p:nvSpPr>
        <p:spPr>
          <a:xfrm>
            <a:off x="6309360" y="4700016"/>
            <a:ext cx="207385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&amp; Scikit-learn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5623560"/>
            <a:ext cx="10881360" cy="914400"/>
          </a:xfrm>
          <a:prstGeom prst="roundRect">
            <a:avLst>
              <a:gd name="adj" fmla="val 12000"/>
            </a:avLst>
          </a:prstGeom>
          <a:solidFill>
            <a:srgbClr val="263875"/>
          </a:solidFill>
          <a:ln/>
        </p:spPr>
      </p:sp>
      <p:sp>
        <p:nvSpPr>
          <p:cNvPr id="21" name="Shape 19"/>
          <p:cNvSpPr/>
          <p:nvPr/>
        </p:nvSpPr>
        <p:spPr>
          <a:xfrm>
            <a:off x="868680" y="5806440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1326" y="5949086"/>
            <a:ext cx="263347" cy="263347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1600200" y="57607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Nimra Ashraf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Internship Project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11548872" y="63550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 Internship Projects</dc:title>
  <dc:subject>PptxGenJS Presentation</dc:subject>
  <dc:creator>Nimra Ashraf</dc:creator>
  <cp:lastModifiedBy>Nimra Ashraf</cp:lastModifiedBy>
  <cp:revision>1</cp:revision>
  <dcterms:created xsi:type="dcterms:W3CDTF">2026-07-02T09:05:36Z</dcterms:created>
  <dcterms:modified xsi:type="dcterms:W3CDTF">2026-07-02T09:05:36Z</dcterms:modified>
</cp:coreProperties>
</file>